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7559675" cy="106918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29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60" y="1749795"/>
            <a:ext cx="5669756" cy="3722335"/>
          </a:xfrm>
        </p:spPr>
        <p:txBody>
          <a:bodyPr anchor="b"/>
          <a:lstStyle>
            <a:lvl1pPr algn="ctr">
              <a:defRPr sz="372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510" indent="0" algn="ctr">
              <a:buNone/>
              <a:defRPr sz="1240"/>
            </a:lvl2pPr>
            <a:lvl3pPr marL="567019" indent="0" algn="ctr">
              <a:buNone/>
              <a:defRPr sz="1116"/>
            </a:lvl3pPr>
            <a:lvl4pPr marL="850529" indent="0" algn="ctr">
              <a:buNone/>
              <a:defRPr sz="992"/>
            </a:lvl4pPr>
            <a:lvl5pPr marL="1134039" indent="0" algn="ctr">
              <a:buNone/>
              <a:defRPr sz="992"/>
            </a:lvl5pPr>
            <a:lvl6pPr marL="1417549" indent="0" algn="ctr">
              <a:buNone/>
              <a:defRPr sz="992"/>
            </a:lvl6pPr>
            <a:lvl7pPr marL="1701058" indent="0" algn="ctr">
              <a:buNone/>
              <a:defRPr sz="992"/>
            </a:lvl7pPr>
            <a:lvl8pPr marL="1984568" indent="0" algn="ctr">
              <a:buNone/>
              <a:defRPr sz="992"/>
            </a:lvl8pPr>
            <a:lvl9pPr marL="2268078" indent="0" algn="ctr">
              <a:buNone/>
              <a:defRPr sz="992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AD4C-4E6F-4024-B76B-E016819C901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B018-FF57-4F69-B952-7654C5DDA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9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AD4C-4E6F-4024-B76B-E016819C901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B018-FF57-4F69-B952-7654C5DDA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2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0" y="2665532"/>
            <a:ext cx="6520220" cy="4447496"/>
          </a:xfrm>
        </p:spPr>
        <p:txBody>
          <a:bodyPr anchor="b"/>
          <a:lstStyle>
            <a:lvl1pPr>
              <a:defRPr sz="372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0" y="7155103"/>
            <a:ext cx="6520220" cy="2338833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1pPr>
            <a:lvl2pPr marL="283510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7019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529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4039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7549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105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456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807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AD4C-4E6F-4024-B76B-E016819C901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B018-FF57-4F69-B952-7654C5DDA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90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AD4C-4E6F-4024-B76B-E016819C901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B018-FF57-4F69-B952-7654C5DDA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8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7" cy="128450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510" indent="0">
              <a:buNone/>
              <a:defRPr sz="1240" b="1"/>
            </a:lvl2pPr>
            <a:lvl3pPr marL="567019" indent="0">
              <a:buNone/>
              <a:defRPr sz="1116" b="1"/>
            </a:lvl3pPr>
            <a:lvl4pPr marL="850529" indent="0">
              <a:buNone/>
              <a:defRPr sz="992" b="1"/>
            </a:lvl4pPr>
            <a:lvl5pPr marL="1134039" indent="0">
              <a:buNone/>
              <a:defRPr sz="992" b="1"/>
            </a:lvl5pPr>
            <a:lvl6pPr marL="1417549" indent="0">
              <a:buNone/>
              <a:defRPr sz="992" b="1"/>
            </a:lvl6pPr>
            <a:lvl7pPr marL="1701058" indent="0">
              <a:buNone/>
              <a:defRPr sz="992" b="1"/>
            </a:lvl7pPr>
            <a:lvl8pPr marL="1984568" indent="0">
              <a:buNone/>
              <a:defRPr sz="992" b="1"/>
            </a:lvl8pPr>
            <a:lvl9pPr marL="2268078" indent="0">
              <a:buNone/>
              <a:defRPr sz="992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7" cy="574437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510" indent="0">
              <a:buNone/>
              <a:defRPr sz="1240" b="1"/>
            </a:lvl2pPr>
            <a:lvl3pPr marL="567019" indent="0">
              <a:buNone/>
              <a:defRPr sz="1116" b="1"/>
            </a:lvl3pPr>
            <a:lvl4pPr marL="850529" indent="0">
              <a:buNone/>
              <a:defRPr sz="992" b="1"/>
            </a:lvl4pPr>
            <a:lvl5pPr marL="1134039" indent="0">
              <a:buNone/>
              <a:defRPr sz="992" b="1"/>
            </a:lvl5pPr>
            <a:lvl6pPr marL="1417549" indent="0">
              <a:buNone/>
              <a:defRPr sz="992" b="1"/>
            </a:lvl6pPr>
            <a:lvl7pPr marL="1701058" indent="0">
              <a:buNone/>
              <a:defRPr sz="992" b="1"/>
            </a:lvl7pPr>
            <a:lvl8pPr marL="1984568" indent="0">
              <a:buNone/>
              <a:defRPr sz="992" b="1"/>
            </a:lvl8pPr>
            <a:lvl9pPr marL="2268078" indent="0">
              <a:buNone/>
              <a:defRPr sz="992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AD4C-4E6F-4024-B76B-E016819C901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B018-FF57-4F69-B952-7654C5DDA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09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AD4C-4E6F-4024-B76B-E016819C901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B018-FF57-4F69-B952-7654C5DDA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16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AD4C-4E6F-4024-B76B-E016819C901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B018-FF57-4F69-B952-7654C5DDA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429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1984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8" y="1539425"/>
            <a:ext cx="3827085" cy="7598117"/>
          </a:xfrm>
        </p:spPr>
        <p:txBody>
          <a:bodyPr/>
          <a:lstStyle>
            <a:lvl1pPr>
              <a:defRPr sz="1984"/>
            </a:lvl1pPr>
            <a:lvl2pPr>
              <a:defRPr sz="1736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992"/>
            </a:lvl1pPr>
            <a:lvl2pPr marL="283510" indent="0">
              <a:buNone/>
              <a:defRPr sz="868"/>
            </a:lvl2pPr>
            <a:lvl3pPr marL="567019" indent="0">
              <a:buNone/>
              <a:defRPr sz="744"/>
            </a:lvl3pPr>
            <a:lvl4pPr marL="850529" indent="0">
              <a:buNone/>
              <a:defRPr sz="620"/>
            </a:lvl4pPr>
            <a:lvl5pPr marL="1134039" indent="0">
              <a:buNone/>
              <a:defRPr sz="620"/>
            </a:lvl5pPr>
            <a:lvl6pPr marL="1417549" indent="0">
              <a:buNone/>
              <a:defRPr sz="620"/>
            </a:lvl6pPr>
            <a:lvl7pPr marL="1701058" indent="0">
              <a:buNone/>
              <a:defRPr sz="620"/>
            </a:lvl7pPr>
            <a:lvl8pPr marL="1984568" indent="0">
              <a:buNone/>
              <a:defRPr sz="620"/>
            </a:lvl8pPr>
            <a:lvl9pPr marL="2268078" indent="0">
              <a:buNone/>
              <a:defRPr sz="62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AD4C-4E6F-4024-B76B-E016819C901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B018-FF57-4F69-B952-7654C5DDA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79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1984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13848" y="1539425"/>
            <a:ext cx="3827085" cy="7598117"/>
          </a:xfrm>
        </p:spPr>
        <p:txBody>
          <a:bodyPr/>
          <a:lstStyle>
            <a:lvl1pPr marL="0" indent="0">
              <a:buNone/>
              <a:defRPr sz="1984"/>
            </a:lvl1pPr>
            <a:lvl2pPr marL="283510" indent="0">
              <a:buNone/>
              <a:defRPr sz="1736"/>
            </a:lvl2pPr>
            <a:lvl3pPr marL="567019" indent="0">
              <a:buNone/>
              <a:defRPr sz="1488"/>
            </a:lvl3pPr>
            <a:lvl4pPr marL="850529" indent="0">
              <a:buNone/>
              <a:defRPr sz="1240"/>
            </a:lvl4pPr>
            <a:lvl5pPr marL="1134039" indent="0">
              <a:buNone/>
              <a:defRPr sz="1240"/>
            </a:lvl5pPr>
            <a:lvl6pPr marL="1417549" indent="0">
              <a:buNone/>
              <a:defRPr sz="1240"/>
            </a:lvl6pPr>
            <a:lvl7pPr marL="1701058" indent="0">
              <a:buNone/>
              <a:defRPr sz="1240"/>
            </a:lvl7pPr>
            <a:lvl8pPr marL="1984568" indent="0">
              <a:buNone/>
              <a:defRPr sz="1240"/>
            </a:lvl8pPr>
            <a:lvl9pPr marL="2268078" indent="0">
              <a:buNone/>
              <a:defRPr sz="124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992"/>
            </a:lvl1pPr>
            <a:lvl2pPr marL="283510" indent="0">
              <a:buNone/>
              <a:defRPr sz="868"/>
            </a:lvl2pPr>
            <a:lvl3pPr marL="567019" indent="0">
              <a:buNone/>
              <a:defRPr sz="744"/>
            </a:lvl3pPr>
            <a:lvl4pPr marL="850529" indent="0">
              <a:buNone/>
              <a:defRPr sz="620"/>
            </a:lvl4pPr>
            <a:lvl5pPr marL="1134039" indent="0">
              <a:buNone/>
              <a:defRPr sz="620"/>
            </a:lvl5pPr>
            <a:lvl6pPr marL="1417549" indent="0">
              <a:buNone/>
              <a:defRPr sz="620"/>
            </a:lvl6pPr>
            <a:lvl7pPr marL="1701058" indent="0">
              <a:buNone/>
              <a:defRPr sz="620"/>
            </a:lvl7pPr>
            <a:lvl8pPr marL="1984568" indent="0">
              <a:buNone/>
              <a:defRPr sz="620"/>
            </a:lvl8pPr>
            <a:lvl9pPr marL="2268078" indent="0">
              <a:buNone/>
              <a:defRPr sz="62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AD4C-4E6F-4024-B76B-E016819C901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B018-FF57-4F69-B952-7654C5DDA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86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AD4C-4E6F-4024-B76B-E016819C901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B018-FF57-4F69-B952-7654C5DDA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270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9" y="569240"/>
            <a:ext cx="4795669" cy="9060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AD4C-4E6F-4024-B76B-E016819C901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B018-FF57-4F69-B952-7654C5DDA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87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9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FAD4C-4E6F-4024-B76B-E016819C901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1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EB018-FF57-4F69-B952-7654C5DDA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3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67019" rtl="0" eaLnBrk="1" latinLnBrk="0" hangingPunct="1">
        <a:lnSpc>
          <a:spcPct val="90000"/>
        </a:lnSpc>
        <a:spcBef>
          <a:spcPct val="0"/>
        </a:spcBef>
        <a:buNone/>
        <a:defRPr sz="27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755" indent="-141755" algn="l" defTabSz="567019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25265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774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2284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794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930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281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632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983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510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701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52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754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1058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4568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8078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000" y="288000"/>
            <a:ext cx="6984000" cy="10116001"/>
          </a:xfrm>
          <a:prstGeom prst="rect">
            <a:avLst/>
          </a:prstGeom>
          <a:noFill/>
          <a:ln w="222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054766"/>
              </p:ext>
            </p:extLst>
          </p:nvPr>
        </p:nvGraphicFramePr>
        <p:xfrm>
          <a:off x="503999" y="432000"/>
          <a:ext cx="6552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040">
                  <a:extLst>
                    <a:ext uri="{9D8B030D-6E8A-4147-A177-3AD203B41FA5}">
                      <a16:colId xmlns:a16="http://schemas.microsoft.com/office/drawing/2014/main" val="2994458554"/>
                    </a:ext>
                  </a:extLst>
                </a:gridCol>
                <a:gridCol w="3013920">
                  <a:extLst>
                    <a:ext uri="{9D8B030D-6E8A-4147-A177-3AD203B41FA5}">
                      <a16:colId xmlns:a16="http://schemas.microsoft.com/office/drawing/2014/main" val="1534315878"/>
                    </a:ext>
                  </a:extLst>
                </a:gridCol>
                <a:gridCol w="1769040">
                  <a:extLst>
                    <a:ext uri="{9D8B030D-6E8A-4147-A177-3AD203B41FA5}">
                      <a16:colId xmlns:a16="http://schemas.microsoft.com/office/drawing/2014/main" val="2308605541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دانشجو: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محمد تدین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سیستم آبیاری و پایش هوشمند گلدون (IoT)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تاریخ: … / … / …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صفحه : 1 از 10</a:t>
                      </a:r>
                      <a:endParaRPr lang="fa-IR" sz="1100" b="1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نام استاد: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…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76032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00" y="1404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b="1" dirty="0" smtClean="0">
                <a:solidFill>
                  <a:srgbClr val="C07000"/>
                </a:solidFill>
                <a:cs typeface="B Nazanin" panose="00000400000000000000" pitchFamily="2" charset="-78"/>
              </a:rPr>
              <a:t>چکیده</a:t>
            </a:r>
            <a:endParaRPr lang="fa-IR" b="1" dirty="0">
              <a:solidFill>
                <a:srgbClr val="C07000"/>
              </a:solidFill>
              <a:cs typeface="B Nazanin" panose="00000400000000000000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00" y="1800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عنوان تحقیق: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سیستم آبیاری و پایش هوشمند گلدون (IoT)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نام دانشجو و اعضای تیم: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محمد تدین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استاد: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…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زمان انجام پروژه: …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[متن چکیده اینجا نوشته می‌شود]</a:t>
            </a:r>
            <a:endParaRPr lang="fa-IR" sz="1400" dirty="0">
              <a:solidFill>
                <a:srgbClr val="00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5108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000" y="288000"/>
            <a:ext cx="6984000" cy="10116001"/>
          </a:xfrm>
          <a:prstGeom prst="rect">
            <a:avLst/>
          </a:prstGeom>
          <a:noFill/>
          <a:ln w="222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067397"/>
              </p:ext>
            </p:extLst>
          </p:nvPr>
        </p:nvGraphicFramePr>
        <p:xfrm>
          <a:off x="503999" y="432000"/>
          <a:ext cx="6552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040">
                  <a:extLst>
                    <a:ext uri="{9D8B030D-6E8A-4147-A177-3AD203B41FA5}">
                      <a16:colId xmlns:a16="http://schemas.microsoft.com/office/drawing/2014/main" val="3496176804"/>
                    </a:ext>
                  </a:extLst>
                </a:gridCol>
                <a:gridCol w="3013920">
                  <a:extLst>
                    <a:ext uri="{9D8B030D-6E8A-4147-A177-3AD203B41FA5}">
                      <a16:colId xmlns:a16="http://schemas.microsoft.com/office/drawing/2014/main" val="2898742698"/>
                    </a:ext>
                  </a:extLst>
                </a:gridCol>
                <a:gridCol w="1769040">
                  <a:extLst>
                    <a:ext uri="{9D8B030D-6E8A-4147-A177-3AD203B41FA5}">
                      <a16:colId xmlns:a16="http://schemas.microsoft.com/office/drawing/2014/main" val="1256395855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دانشجو: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محمد تدین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سیستم آبیاری و پایش هوشمند گلدون (IoT)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تاریخ: … / … / …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صفحه : 2 از 10</a:t>
                      </a:r>
                      <a:endParaRPr lang="fa-IR" sz="1100" b="1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نام استاد: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…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38572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00" y="1404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b="1" dirty="0" smtClean="0">
                <a:solidFill>
                  <a:srgbClr val="C07000"/>
                </a:solidFill>
                <a:cs typeface="B Nazanin" panose="00000400000000000000" pitchFamily="2" charset="-78"/>
              </a:rPr>
              <a:t>فهرست مطالب</a:t>
            </a:r>
            <a:endParaRPr lang="fa-IR" b="1" dirty="0">
              <a:solidFill>
                <a:srgbClr val="C07000"/>
              </a:solidFill>
              <a:cs typeface="B Nazanin" panose="00000400000000000000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00" y="1800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چکیده .................................................... ۱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فهرست مطالب .............................................. ۲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فهرست شکل‌ها .............................................. ۳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فهرست جدول‌ها ............................................. ۴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۱- مقدمه ................................................. ۵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    ۱-۱- پیش‌گفتار ...................................... ۵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    ۱-۱-۱- کلیات گزارش ................................. ۵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    ۱-۱-۲- ساختار تحقیق ................................ ۶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۲- بدنه اصلی تحقیق ...................................... ۷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    ۲-۱- زیرفصل شماره ۱ ................................ ۷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    ۲-۲- زیرفصل شماره ۲ ................................ ۷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۳- جمع‌بندی و نتیجه‌گیری ................................. ۸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    ۳-۱- نتیجه‌گیری ..................................... ۸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    ۳-۲- پیشنهاد برای ادامه کار ........................ ۸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    ۳-۳- تقدیر و تشکر .................................. ۸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۴- مراجع .................................................. ۹</a:t>
            </a:r>
            <a:endParaRPr lang="fa-IR" sz="1400" dirty="0">
              <a:solidFill>
                <a:srgbClr val="00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01252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000" y="288000"/>
            <a:ext cx="6984000" cy="10116001"/>
          </a:xfrm>
          <a:prstGeom prst="rect">
            <a:avLst/>
          </a:prstGeom>
          <a:noFill/>
          <a:ln w="222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204308"/>
              </p:ext>
            </p:extLst>
          </p:nvPr>
        </p:nvGraphicFramePr>
        <p:xfrm>
          <a:off x="503999" y="432000"/>
          <a:ext cx="6552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040">
                  <a:extLst>
                    <a:ext uri="{9D8B030D-6E8A-4147-A177-3AD203B41FA5}">
                      <a16:colId xmlns:a16="http://schemas.microsoft.com/office/drawing/2014/main" val="1443925994"/>
                    </a:ext>
                  </a:extLst>
                </a:gridCol>
                <a:gridCol w="3013920">
                  <a:extLst>
                    <a:ext uri="{9D8B030D-6E8A-4147-A177-3AD203B41FA5}">
                      <a16:colId xmlns:a16="http://schemas.microsoft.com/office/drawing/2014/main" val="588050430"/>
                    </a:ext>
                  </a:extLst>
                </a:gridCol>
                <a:gridCol w="1769040">
                  <a:extLst>
                    <a:ext uri="{9D8B030D-6E8A-4147-A177-3AD203B41FA5}">
                      <a16:colId xmlns:a16="http://schemas.microsoft.com/office/drawing/2014/main" val="246748192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دانشجو: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محمد تدین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سیستم آبیاری و پایش هوشمند گلدون (IoT)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تاریخ: … / … / …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صفحه : 3 از 10</a:t>
                      </a:r>
                      <a:endParaRPr lang="fa-IR" sz="1100" b="1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نام استاد: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…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13901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00" y="1404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b="1" dirty="0" smtClean="0">
                <a:solidFill>
                  <a:srgbClr val="C07000"/>
                </a:solidFill>
                <a:cs typeface="B Nazanin" panose="00000400000000000000" pitchFamily="2" charset="-78"/>
              </a:rPr>
              <a:t>فهرست شکل‌ها</a:t>
            </a:r>
            <a:endParaRPr lang="fa-IR" b="1" dirty="0">
              <a:solidFill>
                <a:srgbClr val="C07000"/>
              </a:solidFill>
              <a:cs typeface="B Nazanin" panose="00000400000000000000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00" y="1800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شکل (۱-۱) … ................................................. ۵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شکل (۱-۲) … ................................................. ۶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شکل (۲-۱) … ................................................. ۷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[عناوین شکل‌ها بعداً تکمیل می‌شود]</a:t>
            </a:r>
            <a:endParaRPr lang="fa-IR" sz="1400" dirty="0">
              <a:solidFill>
                <a:srgbClr val="00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8552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000" y="288000"/>
            <a:ext cx="6984000" cy="10116001"/>
          </a:xfrm>
          <a:prstGeom prst="rect">
            <a:avLst/>
          </a:prstGeom>
          <a:noFill/>
          <a:ln w="222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675003"/>
              </p:ext>
            </p:extLst>
          </p:nvPr>
        </p:nvGraphicFramePr>
        <p:xfrm>
          <a:off x="503999" y="432000"/>
          <a:ext cx="6552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040">
                  <a:extLst>
                    <a:ext uri="{9D8B030D-6E8A-4147-A177-3AD203B41FA5}">
                      <a16:colId xmlns:a16="http://schemas.microsoft.com/office/drawing/2014/main" val="1394756443"/>
                    </a:ext>
                  </a:extLst>
                </a:gridCol>
                <a:gridCol w="3013920">
                  <a:extLst>
                    <a:ext uri="{9D8B030D-6E8A-4147-A177-3AD203B41FA5}">
                      <a16:colId xmlns:a16="http://schemas.microsoft.com/office/drawing/2014/main" val="1686498704"/>
                    </a:ext>
                  </a:extLst>
                </a:gridCol>
                <a:gridCol w="1769040">
                  <a:extLst>
                    <a:ext uri="{9D8B030D-6E8A-4147-A177-3AD203B41FA5}">
                      <a16:colId xmlns:a16="http://schemas.microsoft.com/office/drawing/2014/main" val="2910518497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دانشجو: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محمد تدین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سیستم آبیاری و پایش هوشمند گلدون (IoT)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تاریخ: … / … / …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صفحه : 4 از 10</a:t>
                      </a:r>
                      <a:endParaRPr lang="fa-IR" sz="1100" b="1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نام استاد: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…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1315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00" y="1404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b="1" dirty="0" smtClean="0">
                <a:solidFill>
                  <a:srgbClr val="C07000"/>
                </a:solidFill>
                <a:cs typeface="B Nazanin" panose="00000400000000000000" pitchFamily="2" charset="-78"/>
              </a:rPr>
              <a:t>فهرست جدول‌ها</a:t>
            </a:r>
            <a:endParaRPr lang="fa-IR" b="1" dirty="0">
              <a:solidFill>
                <a:srgbClr val="C07000"/>
              </a:solidFill>
              <a:cs typeface="B Nazanin" panose="00000400000000000000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00" y="1800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جدول (۱-۱) … ............................................... ۵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[عناوین جدول‌ها بعداً تکمیل می‌شود]</a:t>
            </a:r>
            <a:endParaRPr lang="fa-IR" sz="1400" dirty="0">
              <a:solidFill>
                <a:srgbClr val="00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42083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000" y="288000"/>
            <a:ext cx="6984000" cy="10116001"/>
          </a:xfrm>
          <a:prstGeom prst="rect">
            <a:avLst/>
          </a:prstGeom>
          <a:noFill/>
          <a:ln w="222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150770"/>
              </p:ext>
            </p:extLst>
          </p:nvPr>
        </p:nvGraphicFramePr>
        <p:xfrm>
          <a:off x="503999" y="432000"/>
          <a:ext cx="6552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040">
                  <a:extLst>
                    <a:ext uri="{9D8B030D-6E8A-4147-A177-3AD203B41FA5}">
                      <a16:colId xmlns:a16="http://schemas.microsoft.com/office/drawing/2014/main" val="3345444239"/>
                    </a:ext>
                  </a:extLst>
                </a:gridCol>
                <a:gridCol w="3013920">
                  <a:extLst>
                    <a:ext uri="{9D8B030D-6E8A-4147-A177-3AD203B41FA5}">
                      <a16:colId xmlns:a16="http://schemas.microsoft.com/office/drawing/2014/main" val="2412123341"/>
                    </a:ext>
                  </a:extLst>
                </a:gridCol>
                <a:gridCol w="1769040">
                  <a:extLst>
                    <a:ext uri="{9D8B030D-6E8A-4147-A177-3AD203B41FA5}">
                      <a16:colId xmlns:a16="http://schemas.microsoft.com/office/drawing/2014/main" val="838550680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دانشجو: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محمد تدین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سیستم آبیاری و پایش هوشمند گلدون (IoT)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تاریخ: … / … / …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صفحه : 5 از 10</a:t>
                      </a:r>
                      <a:endParaRPr lang="fa-IR" sz="1100" b="1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نام استاد: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…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87792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00" y="1404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b="1" dirty="0" smtClean="0">
                <a:solidFill>
                  <a:srgbClr val="C07000"/>
                </a:solidFill>
                <a:cs typeface="B Nazanin" panose="00000400000000000000" pitchFamily="2" charset="-78"/>
              </a:rPr>
              <a:t>۱- مقدمه</a:t>
            </a:r>
            <a:endParaRPr lang="fa-IR" b="1" dirty="0">
              <a:solidFill>
                <a:srgbClr val="C07000"/>
              </a:solidFill>
              <a:cs typeface="B Nazanin" panose="00000400000000000000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00" y="1800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۱-۱- پیش‌گفتار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[متن پیش‌گفتار]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۱-۱-۱- کلیات گزارش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[متن کلیات گزارش]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شکل (۱-۱) …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جدول (۱-۱) …</a:t>
            </a:r>
            <a:endParaRPr lang="fa-IR" sz="1400" dirty="0">
              <a:solidFill>
                <a:srgbClr val="00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87447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000" y="288000"/>
            <a:ext cx="6984000" cy="10116001"/>
          </a:xfrm>
          <a:prstGeom prst="rect">
            <a:avLst/>
          </a:prstGeom>
          <a:noFill/>
          <a:ln w="222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480914"/>
              </p:ext>
            </p:extLst>
          </p:nvPr>
        </p:nvGraphicFramePr>
        <p:xfrm>
          <a:off x="503999" y="432000"/>
          <a:ext cx="6552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040">
                  <a:extLst>
                    <a:ext uri="{9D8B030D-6E8A-4147-A177-3AD203B41FA5}">
                      <a16:colId xmlns:a16="http://schemas.microsoft.com/office/drawing/2014/main" val="177696122"/>
                    </a:ext>
                  </a:extLst>
                </a:gridCol>
                <a:gridCol w="3013920">
                  <a:extLst>
                    <a:ext uri="{9D8B030D-6E8A-4147-A177-3AD203B41FA5}">
                      <a16:colId xmlns:a16="http://schemas.microsoft.com/office/drawing/2014/main" val="3889334857"/>
                    </a:ext>
                  </a:extLst>
                </a:gridCol>
                <a:gridCol w="1769040">
                  <a:extLst>
                    <a:ext uri="{9D8B030D-6E8A-4147-A177-3AD203B41FA5}">
                      <a16:colId xmlns:a16="http://schemas.microsoft.com/office/drawing/2014/main" val="1969881815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دانشجو: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محمد تدین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سیستم آبیاری و پایش هوشمند گلدون (IoT)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تاریخ: … / … / …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صفحه : 6 از 10</a:t>
                      </a:r>
                      <a:endParaRPr lang="fa-IR" sz="1100" b="1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نام استاد: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…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69649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00" y="1404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b="1" dirty="0" smtClean="0">
                <a:solidFill>
                  <a:srgbClr val="C07000"/>
                </a:solidFill>
                <a:cs typeface="B Nazanin" panose="00000400000000000000" pitchFamily="2" charset="-78"/>
              </a:rPr>
              <a:t>۱-۱-۲- ساختار تحقیق</a:t>
            </a:r>
            <a:endParaRPr lang="fa-IR" b="1" dirty="0">
              <a:solidFill>
                <a:srgbClr val="C07000"/>
              </a:solidFill>
              <a:cs typeface="B Nazanin" panose="00000400000000000000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00" y="1800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[توضیح ساختار فصول]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شکل (۱-۲) نمودار مطالب فصول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فصل اول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• …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فصل دوم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• …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فصل سوم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• …</a:t>
            </a:r>
            <a:endParaRPr lang="fa-IR" sz="1400" dirty="0">
              <a:solidFill>
                <a:srgbClr val="00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76974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000" y="288000"/>
            <a:ext cx="6984000" cy="10116001"/>
          </a:xfrm>
          <a:prstGeom prst="rect">
            <a:avLst/>
          </a:prstGeom>
          <a:noFill/>
          <a:ln w="222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735763"/>
              </p:ext>
            </p:extLst>
          </p:nvPr>
        </p:nvGraphicFramePr>
        <p:xfrm>
          <a:off x="503999" y="432000"/>
          <a:ext cx="6552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040">
                  <a:extLst>
                    <a:ext uri="{9D8B030D-6E8A-4147-A177-3AD203B41FA5}">
                      <a16:colId xmlns:a16="http://schemas.microsoft.com/office/drawing/2014/main" val="1797287823"/>
                    </a:ext>
                  </a:extLst>
                </a:gridCol>
                <a:gridCol w="3013920">
                  <a:extLst>
                    <a:ext uri="{9D8B030D-6E8A-4147-A177-3AD203B41FA5}">
                      <a16:colId xmlns:a16="http://schemas.microsoft.com/office/drawing/2014/main" val="1386258539"/>
                    </a:ext>
                  </a:extLst>
                </a:gridCol>
                <a:gridCol w="1769040">
                  <a:extLst>
                    <a:ext uri="{9D8B030D-6E8A-4147-A177-3AD203B41FA5}">
                      <a16:colId xmlns:a16="http://schemas.microsoft.com/office/drawing/2014/main" val="3282764094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دانشجو: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محمد تدین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سیستم آبیاری و پایش هوشمند گلدون (IoT)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تاریخ: … / … / …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صفحه : 7 از 10</a:t>
                      </a:r>
                      <a:endParaRPr lang="fa-IR" sz="1100" b="1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نام استاد: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…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61728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00" y="1404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b="1" dirty="0" smtClean="0">
                <a:solidFill>
                  <a:srgbClr val="C07000"/>
                </a:solidFill>
                <a:cs typeface="B Nazanin" panose="00000400000000000000" pitchFamily="2" charset="-78"/>
              </a:rPr>
              <a:t>۲- بدنه اصلی تحقیق</a:t>
            </a:r>
            <a:endParaRPr lang="fa-IR" b="1" dirty="0">
              <a:solidFill>
                <a:srgbClr val="C07000"/>
              </a:solidFill>
              <a:cs typeface="B Nazanin" panose="00000400000000000000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00" y="1800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این فصل شامل بخش اصلی تحقیق است.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۲-۱- زیرفصل شماره ۱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[متن]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شکل (۲-۱) …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۲-۲- زیرفصل شماره ۲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[متن]</a:t>
            </a:r>
            <a:endParaRPr lang="fa-IR" sz="1400" dirty="0">
              <a:solidFill>
                <a:srgbClr val="00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18495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000" y="288000"/>
            <a:ext cx="6984000" cy="10116001"/>
          </a:xfrm>
          <a:prstGeom prst="rect">
            <a:avLst/>
          </a:prstGeom>
          <a:noFill/>
          <a:ln w="222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090634"/>
              </p:ext>
            </p:extLst>
          </p:nvPr>
        </p:nvGraphicFramePr>
        <p:xfrm>
          <a:off x="503999" y="432000"/>
          <a:ext cx="6552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040">
                  <a:extLst>
                    <a:ext uri="{9D8B030D-6E8A-4147-A177-3AD203B41FA5}">
                      <a16:colId xmlns:a16="http://schemas.microsoft.com/office/drawing/2014/main" val="1864532199"/>
                    </a:ext>
                  </a:extLst>
                </a:gridCol>
                <a:gridCol w="3013920">
                  <a:extLst>
                    <a:ext uri="{9D8B030D-6E8A-4147-A177-3AD203B41FA5}">
                      <a16:colId xmlns:a16="http://schemas.microsoft.com/office/drawing/2014/main" val="1457367035"/>
                    </a:ext>
                  </a:extLst>
                </a:gridCol>
                <a:gridCol w="1769040">
                  <a:extLst>
                    <a:ext uri="{9D8B030D-6E8A-4147-A177-3AD203B41FA5}">
                      <a16:colId xmlns:a16="http://schemas.microsoft.com/office/drawing/2014/main" val="544430491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دانشجو: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محمد تدین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سیستم آبیاری و پایش هوشمند گلدون (IoT)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تاریخ: … / … / …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صفحه : 8 از 10</a:t>
                      </a:r>
                      <a:endParaRPr lang="fa-IR" sz="1100" b="1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نام استاد: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…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41294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00" y="1404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b="1" dirty="0" smtClean="0">
                <a:solidFill>
                  <a:srgbClr val="C07000"/>
                </a:solidFill>
                <a:cs typeface="B Nazanin" panose="00000400000000000000" pitchFamily="2" charset="-78"/>
              </a:rPr>
              <a:t>۳- جمع‌بندی و نتیجه‌گیری</a:t>
            </a:r>
            <a:endParaRPr lang="fa-IR" b="1" dirty="0">
              <a:solidFill>
                <a:srgbClr val="C07000"/>
              </a:solidFill>
              <a:cs typeface="B Nazanin" panose="00000400000000000000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00" y="1800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۳-۱- نتیجه‌گیری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[متن]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۳-۲- پیشنهاد برای ادامه کار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[متن]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۳-۳- تقدیر و تشکر</a:t>
            </a:r>
          </a:p>
          <a:p>
            <a:pPr algn="r"/>
            <a:endParaRPr lang="fa-IR" sz="1400" dirty="0" smtClean="0">
              <a:solidFill>
                <a:srgbClr val="000000"/>
              </a:solidFill>
              <a:cs typeface="B Nazanin" panose="00000400000000000000" pitchFamily="2" charset="-78"/>
            </a:endParaRP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[متن]</a:t>
            </a:r>
            <a:endParaRPr lang="fa-IR" sz="1400" dirty="0">
              <a:solidFill>
                <a:srgbClr val="00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04871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000" y="288000"/>
            <a:ext cx="6984000" cy="10116001"/>
          </a:xfrm>
          <a:prstGeom prst="rect">
            <a:avLst/>
          </a:prstGeom>
          <a:noFill/>
          <a:ln w="222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526037"/>
              </p:ext>
            </p:extLst>
          </p:nvPr>
        </p:nvGraphicFramePr>
        <p:xfrm>
          <a:off x="503999" y="432000"/>
          <a:ext cx="6552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040">
                  <a:extLst>
                    <a:ext uri="{9D8B030D-6E8A-4147-A177-3AD203B41FA5}">
                      <a16:colId xmlns:a16="http://schemas.microsoft.com/office/drawing/2014/main" val="99470287"/>
                    </a:ext>
                  </a:extLst>
                </a:gridCol>
                <a:gridCol w="3013920">
                  <a:extLst>
                    <a:ext uri="{9D8B030D-6E8A-4147-A177-3AD203B41FA5}">
                      <a16:colId xmlns:a16="http://schemas.microsoft.com/office/drawing/2014/main" val="2394978444"/>
                    </a:ext>
                  </a:extLst>
                </a:gridCol>
                <a:gridCol w="1769040">
                  <a:extLst>
                    <a:ext uri="{9D8B030D-6E8A-4147-A177-3AD203B41FA5}">
                      <a16:colId xmlns:a16="http://schemas.microsoft.com/office/drawing/2014/main" val="2259275089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دانشجو: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محمد تدین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سیستم آبیاری و پایش هوشمند گلدون (IoT)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تاریخ: … / … / …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صفحه : 9 از 10</a:t>
                      </a:r>
                      <a:endParaRPr lang="fa-IR" sz="1100" b="1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نام استاد: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…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698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00" y="1404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b="1" dirty="0" smtClean="0">
                <a:solidFill>
                  <a:srgbClr val="C07000"/>
                </a:solidFill>
                <a:cs typeface="B Nazanin" panose="00000400000000000000" pitchFamily="2" charset="-78"/>
              </a:rPr>
              <a:t>۴- مراجع</a:t>
            </a:r>
            <a:endParaRPr lang="fa-IR" b="1" dirty="0">
              <a:solidFill>
                <a:srgbClr val="C07000"/>
              </a:solidFill>
              <a:cs typeface="B Nazanin" panose="00000400000000000000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00" y="1800000"/>
            <a:ext cx="6408000" cy="3693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[۱] …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[۲] …</a:t>
            </a:r>
          </a:p>
          <a:p>
            <a:pPr algn="r"/>
            <a:r>
              <a:rPr lang="fa-IR" sz="1400" dirty="0" smtClean="0">
                <a:solidFill>
                  <a:srgbClr val="000000"/>
                </a:solidFill>
                <a:cs typeface="B Nazanin" panose="00000400000000000000" pitchFamily="2" charset="-78"/>
              </a:rPr>
              <a:t>[۳] …</a:t>
            </a:r>
            <a:endParaRPr lang="fa-IR" sz="1400" dirty="0">
              <a:solidFill>
                <a:srgbClr val="00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5076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000" y="288000"/>
            <a:ext cx="6984000" cy="10116001"/>
          </a:xfrm>
          <a:prstGeom prst="rect">
            <a:avLst/>
          </a:prstGeom>
          <a:noFill/>
          <a:ln w="222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450587"/>
              </p:ext>
            </p:extLst>
          </p:nvPr>
        </p:nvGraphicFramePr>
        <p:xfrm>
          <a:off x="503999" y="432000"/>
          <a:ext cx="6552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040">
                  <a:extLst>
                    <a:ext uri="{9D8B030D-6E8A-4147-A177-3AD203B41FA5}">
                      <a16:colId xmlns:a16="http://schemas.microsoft.com/office/drawing/2014/main" val="274365877"/>
                    </a:ext>
                  </a:extLst>
                </a:gridCol>
                <a:gridCol w="3013920">
                  <a:extLst>
                    <a:ext uri="{9D8B030D-6E8A-4147-A177-3AD203B41FA5}">
                      <a16:colId xmlns:a16="http://schemas.microsoft.com/office/drawing/2014/main" val="2771156426"/>
                    </a:ext>
                  </a:extLst>
                </a:gridCol>
                <a:gridCol w="1769040">
                  <a:extLst>
                    <a:ext uri="{9D8B030D-6E8A-4147-A177-3AD203B41FA5}">
                      <a16:colId xmlns:a16="http://schemas.microsoft.com/office/drawing/2014/main" val="2382129953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دانشجو: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محمد تدین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سیستم آبیاری و پایش هوشمند گلدون (IoT)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تاریخ: … / … / …</a:t>
                      </a:r>
                    </a:p>
                    <a:p>
                      <a:pPr algn="ctr"/>
                      <a:r>
                        <a:rPr lang="fa-IR" sz="1100" b="1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صفحه : 10 از 10</a:t>
                      </a:r>
                      <a:endParaRPr lang="fa-IR" sz="1100" b="1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نام استاد:</a:t>
                      </a:r>
                    </a:p>
                    <a:p>
                      <a:pPr algn="r"/>
                      <a:r>
                        <a:rPr lang="fa-IR" sz="1200" b="0" dirty="0" smtClean="0">
                          <a:solidFill>
                            <a:srgbClr val="000000"/>
                          </a:solidFill>
                          <a:cs typeface="B Nazanin" panose="00000400000000000000" pitchFamily="2" charset="-78"/>
                        </a:rPr>
                        <a:t>…</a:t>
                      </a:r>
                      <a:endParaRPr lang="fa-IR" sz="1200" b="0" dirty="0">
                        <a:solidFill>
                          <a:srgbClr val="000000"/>
                        </a:solidFill>
                        <a:cs typeface="B Nazanin" panose="00000400000000000000" pitchFamily="2" charset="-78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421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335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</Words>
  <Application>Microsoft Office PowerPoint</Application>
  <PresentationFormat>Custom</PresentationFormat>
  <Paragraphs>161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 Nazanin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Artemis</dc:creator>
  <cp:lastModifiedBy>Artemis</cp:lastModifiedBy>
  <cp:revision>1</cp:revision>
  <dcterms:created xsi:type="dcterms:W3CDTF">2026-09-20T09:44:56Z</dcterms:created>
  <dcterms:modified xsi:type="dcterms:W3CDTF">2026-09-20T09:44:56Z</dcterms:modified>
</cp:coreProperties>
</file>